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6" r:id="rId9"/>
    <p:sldId id="267" r:id="rId10"/>
    <p:sldId id="274" r:id="rId11"/>
    <p:sldId id="275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6654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72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49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inegyan/Makerevuytneri_erankyunacman_modelneri_naxagcman_algoritmeri_mshaku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custGeom>
            <a:avLst/>
            <a:gdLst/>
            <a:ahLst/>
            <a:cxnLst/>
            <a:rect l="l" t="t" r="r" b="b"/>
            <a:pathLst>
              <a:path w="5486400" h="6858000">
                <a:moveTo>
                  <a:pt x="0" y="0"/>
                </a:moveTo>
                <a:lnTo>
                  <a:pt x="5486400" y="0"/>
                </a:lnTo>
                <a:lnTo>
                  <a:pt x="5486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400300"/>
            <a:ext cx="6705600" cy="4457700"/>
          </a:xfrm>
          <a:custGeom>
            <a:avLst/>
            <a:gdLst/>
            <a:ahLst/>
            <a:cxnLst/>
            <a:rect l="l" t="t" r="r" b="b"/>
            <a:pathLst>
              <a:path w="6705600" h="4457700">
                <a:moveTo>
                  <a:pt x="0" y="0"/>
                </a:moveTo>
                <a:lnTo>
                  <a:pt x="6705600" y="0"/>
                </a:lnTo>
                <a:lnTo>
                  <a:pt x="6705600" y="4457700"/>
                </a:lnTo>
                <a:lnTo>
                  <a:pt x="0" y="4457700"/>
                </a:lnTo>
                <a:lnTo>
                  <a:pt x="0" y="0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4" name="Text 2"/>
          <p:cNvSpPr/>
          <p:nvPr/>
        </p:nvSpPr>
        <p:spPr>
          <a:xfrm>
            <a:off x="146724" y="1371600"/>
            <a:ext cx="53396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F5F1EB"/>
                </a:solidFill>
                <a:latin typeface="Sylfaen" panose="010A0502050306030303" pitchFamily="18" charset="0"/>
                <a:ea typeface="MiSans" pitchFamily="34" charset="-122"/>
                <a:cs typeface="MiSans" pitchFamily="34" charset="-120"/>
              </a:rPr>
              <a:t>Թեմա՝ Մակերևույթների եռանկյունացման մոդելների նախագծման ալգորիթմների մշակում</a:t>
            </a: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46724" y="3429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" name="Text 4"/>
          <p:cNvSpPr/>
          <p:nvPr/>
        </p:nvSpPr>
        <p:spPr>
          <a:xfrm>
            <a:off x="5610155" y="346609"/>
            <a:ext cx="67278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0000"/>
                </a:solidFill>
                <a:latin typeface="Sylfaen" panose="010A0502050306030303" pitchFamily="18" charset="0"/>
                <a:ea typeface="MiSans" pitchFamily="34" charset="-122"/>
                <a:cs typeface="MiSans" pitchFamily="34" charset="-120"/>
              </a:rPr>
              <a:t>Հայաստանի Ազգային Պոլիտեխնիկական Համալսարան</a:t>
            </a: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896593" y="2670035"/>
            <a:ext cx="5885214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000205"/>
                </a:solidFill>
                <a:latin typeface="Sylfaen" panose="010A0502050306030303" pitchFamily="18" charset="0"/>
                <a:ea typeface="MiSans" pitchFamily="34" charset="-122"/>
                <a:cs typeface="MiSans" pitchFamily="34" charset="-120"/>
              </a:rPr>
              <a:t>Աշխատանքի ղեկավար՝  ֆ.մ.գ.թ., դոցենտ Գրիգորի Սերգեյի Մաչկալյան</a:t>
            </a: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896593" y="2027167"/>
            <a:ext cx="504057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0000"/>
                </a:solidFill>
                <a:latin typeface="Sylfaen" panose="010A0502050306030303" pitchFamily="18" charset="0"/>
                <a:ea typeface="MiSans" pitchFamily="34" charset="-122"/>
                <a:cs typeface="MiSans" pitchFamily="34" charset="-120"/>
              </a:rPr>
              <a:t>ՄԹ240 խմբի ուսանողուհի՝ Գալստյան Մարինե</a:t>
            </a:r>
            <a:endParaRPr lang="en-US" sz="1600" dirty="0">
              <a:latin typeface="Sylfaen" panose="010A0502050306030303" pitchFamily="18" charset="0"/>
            </a:endParaRPr>
          </a:p>
        </p:txBody>
      </p:sp>
      <p:pic>
        <p:nvPicPr>
          <p:cNvPr id="9" name="Image 0" descr="https://kimi-img.moonshot.cn/pub/slides/26-03-18-06:10:30-d6st2livqs87enpaqn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846320"/>
            <a:ext cx="6705600" cy="2011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19742" y="1333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1" name="Text 8"/>
          <p:cNvSpPr/>
          <p:nvPr/>
        </p:nvSpPr>
        <p:spPr>
          <a:xfrm>
            <a:off x="6906257" y="1333500"/>
            <a:ext cx="3315487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ԱՎԱՐՏԱԿԱՆ ԱՇԽԱՏԱՆՔ</a:t>
            </a: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50173" y="4388901"/>
            <a:ext cx="2247788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ԵՐԵՎԱՆ 2026</a:t>
            </a:r>
            <a:endParaRPr lang="en-US" sz="1600" dirty="0">
              <a:latin typeface="Sylfaen" panose="010A0502050306030303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6447"/>
          </a:xfrm>
          <a:custGeom>
            <a:avLst/>
            <a:gdLst/>
            <a:ahLst/>
            <a:cxnLst/>
            <a:rect l="l" t="t" r="r" b="b"/>
            <a:pathLst>
              <a:path w="12192000" h="1006447">
                <a:moveTo>
                  <a:pt x="0" y="0"/>
                </a:moveTo>
                <a:lnTo>
                  <a:pt x="12192000" y="0"/>
                </a:lnTo>
                <a:lnTo>
                  <a:pt x="12192000" y="1006447"/>
                </a:lnTo>
                <a:lnTo>
                  <a:pt x="0" y="1006447"/>
                </a:lnTo>
                <a:lnTo>
                  <a:pt x="0" y="0"/>
                </a:lnTo>
                <a:close/>
              </a:path>
            </a:pathLst>
          </a:custGeom>
          <a:solidFill>
            <a:srgbClr val="617186"/>
          </a:solidFill>
          <a:ln/>
        </p:spPr>
      </p:sp>
      <p:sp>
        <p:nvSpPr>
          <p:cNvPr id="3" name="Text 1"/>
          <p:cNvSpPr/>
          <p:nvPr/>
        </p:nvSpPr>
        <p:spPr>
          <a:xfrm>
            <a:off x="4359584" y="228150"/>
            <a:ext cx="5473363" cy="12854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Խնդրի Դրվածք</a:t>
            </a: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21619" y="1599301"/>
            <a:ext cx="2247788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9372" y="1868541"/>
            <a:ext cx="11905168" cy="3733165"/>
          </a:xfrm>
          <a:custGeom>
            <a:avLst/>
            <a:gdLst/>
            <a:ahLst/>
            <a:cxnLst/>
            <a:rect l="l" t="t" r="r" b="b"/>
            <a:pathLst>
              <a:path w="11905168" h="3733165">
                <a:moveTo>
                  <a:pt x="61925" y="0"/>
                </a:moveTo>
                <a:lnTo>
                  <a:pt x="11781311" y="0"/>
                </a:lnTo>
                <a:cubicBezTo>
                  <a:pt x="11849715" y="0"/>
                  <a:pt x="11905168" y="111432"/>
                  <a:pt x="11905168" y="248890"/>
                </a:cubicBezTo>
                <a:lnTo>
                  <a:pt x="11905168" y="3484275"/>
                </a:lnTo>
                <a:cubicBezTo>
                  <a:pt x="11905168" y="3621733"/>
                  <a:pt x="11849715" y="3733165"/>
                  <a:pt x="11781311" y="3733165"/>
                </a:cubicBezTo>
                <a:lnTo>
                  <a:pt x="61925" y="3733165"/>
                </a:lnTo>
                <a:cubicBezTo>
                  <a:pt x="27725" y="3733165"/>
                  <a:pt x="0" y="3677452"/>
                  <a:pt x="0" y="3608726"/>
                </a:cubicBezTo>
                <a:lnTo>
                  <a:pt x="0" y="124439"/>
                </a:lnTo>
                <a:cubicBezTo>
                  <a:pt x="0" y="55713"/>
                  <a:pt x="27725" y="0"/>
                  <a:pt x="6192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587" dist="3705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03124" y="4173018"/>
            <a:ext cx="2247788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788" y="2376210"/>
            <a:ext cx="11373805" cy="210557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Ծավալային պատկերների ճշգրիտ գեներացումը չափազանց բարդ հաշվարկային խնդիր է: Այն հեշտացնելու համար օբյեկտները դեկոմպոզիցիայի են ենթարկվում և բաժանվում եռանկյունների, ինչը թույլ է տալիս զգալիորեն պարզեցնել վիզուալիզացիան: Աշխատանքի նպատակն է մշակել մակերևույթների եռանկյունացման այնպիսի ալգորիթմներ, որոնք կգտնեն հաշվարկային արագագործության և երկրաչափական ճշգրտության միջև: Այդ նպատակով գործնական խնդիրներում համակցվել են մակերևույթի արագ մոտարկում ապահովող «Քայլող խորանարդների» և օպտիմալ ճշգրտություն ապահովող Դելոնեի եռանկյունացման մեթոդները:</a:t>
            </a:r>
            <a:endParaRPr lang="en-US" sz="1600" dirty="0">
              <a:latin typeface="Sylfaen" panose="010A0502050306030303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76800" cy="6858000"/>
          </a:xfrm>
          <a:custGeom>
            <a:avLst/>
            <a:gdLst/>
            <a:ahLst/>
            <a:cxnLst/>
            <a:rect l="l" t="t" r="r" b="b"/>
            <a:pathLst>
              <a:path w="4876800" h="6858000">
                <a:moveTo>
                  <a:pt x="0" y="0"/>
                </a:moveTo>
                <a:lnTo>
                  <a:pt x="4876800" y="0"/>
                </a:lnTo>
                <a:lnTo>
                  <a:pt x="48768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461246"/>
            <a:ext cx="11035064" cy="5665436"/>
          </a:xfrm>
          <a:custGeom>
            <a:avLst/>
            <a:gdLst/>
            <a:ahLst/>
            <a:cxnLst/>
            <a:rect l="l" t="t" r="r" b="b"/>
            <a:pathLst>
              <a:path w="11035064" h="5665436">
                <a:moveTo>
                  <a:pt x="126847" y="0"/>
                </a:moveTo>
                <a:lnTo>
                  <a:pt x="10908216" y="0"/>
                </a:lnTo>
                <a:cubicBezTo>
                  <a:pt x="10978225" y="0"/>
                  <a:pt x="11035064" y="163790"/>
                  <a:pt x="11035064" y="365534"/>
                </a:cubicBezTo>
                <a:lnTo>
                  <a:pt x="11035064" y="5299902"/>
                </a:lnTo>
                <a:cubicBezTo>
                  <a:pt x="11035064" y="5501781"/>
                  <a:pt x="10978272" y="5665436"/>
                  <a:pt x="10908216" y="5665436"/>
                </a:cubicBezTo>
                <a:lnTo>
                  <a:pt x="126847" y="5665436"/>
                </a:lnTo>
                <a:cubicBezTo>
                  <a:pt x="56838" y="5665436"/>
                  <a:pt x="0" y="5501646"/>
                  <a:pt x="0" y="5299902"/>
                </a:cubicBezTo>
                <a:lnTo>
                  <a:pt x="0" y="365534"/>
                </a:lnTo>
                <a:cubicBezTo>
                  <a:pt x="0" y="163790"/>
                  <a:pt x="56838" y="0"/>
                  <a:pt x="12684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38345" y="531602"/>
            <a:ext cx="10463451" cy="64048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600" dirty="0" err="1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Եռանկյունացումը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մոդելավորվող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օբյեկտի մակերևույթի բաժանման և մոտարկման գործընթացն է եռանկյունների միջոցով: Այս գործընթացում կառուցված բոլոր եռանկյուն թիթեղները պետք է միացվեն միմյանց հետ:</a:t>
            </a:r>
            <a:endParaRPr lang="en-US" sz="1600" dirty="0">
              <a:latin typeface="Sylfaen" panose="010A0502050306030303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Մաթեմատիկորեն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,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հարթության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վրա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տրված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կետերի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բազմության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համար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եռանկյունացումը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սահմանվում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է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որպես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առավելագույն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հարթ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տրոհում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,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որի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համար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գագաթների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բազմությունը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հենց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տրված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կետերն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են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:</a:t>
            </a:r>
            <a:endParaRPr lang="en-US" sz="1600" dirty="0" smtClean="0">
              <a:latin typeface="Sylfaen" panose="010A0502050306030303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Գործնականում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մոդելավորման ժամանակ առավել հաճախ ընտրվում է հենց եռանկյունացման մեթոդը մի շարք կարևոր պատճառներով.</a:t>
            </a:r>
            <a:endParaRPr lang="en-US" sz="1600" dirty="0">
              <a:latin typeface="Sylfaen" panose="010A0502050306030303" pitchFamily="18" charset="0"/>
            </a:endParaRPr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Պարզություն և միանշանակություն.</a:t>
            </a:r>
            <a:r>
              <a:rPr lang="en-US" sz="14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 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Եռանկյունին ամենապարզ բազմանկյունն է։ Նրա երեք գագաթները միշտ և միանշանակ որոշում են մեկ հարթություն (կող), ինչը չի կարելի ասել, օրինակ, քառանկյան մասին, որի գագաթները կարող են ծռվել տարբեր հարթություններում։</a:t>
            </a:r>
            <a:endParaRPr lang="en-US" sz="1600" dirty="0">
              <a:latin typeface="Sylfaen" panose="010A0502050306030303" pitchFamily="18" charset="0"/>
            </a:endParaRPr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Երաշխավորված դեկոմպոզիցիա.</a:t>
            </a:r>
            <a:r>
              <a:rPr lang="en-US" sz="14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Ցանկացած բարդության օբյեկտ հնարավոր է և երաշխավորվում է, որ կարող է տրոհվել եռանկյունների, ինչը այլ պատկերների դեպքում միշտ չէ, որ հնարավոր է:</a:t>
            </a:r>
            <a:endParaRPr lang="en-US" sz="1600" dirty="0">
              <a:latin typeface="Sylfaen" panose="010A0502050306030303" pitchFamily="18" charset="0"/>
            </a:endParaRPr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Ալգորիթմների արագագործություն.</a:t>
            </a:r>
            <a:r>
              <a:rPr lang="en-US" sz="14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Համակարգչի համար շատ ավելի արագ ու հեշտ է հաշվարկել և աշխատել եռանկյունների պարզ հավաքածուի հետ, քան ընդհանուր տեսքի բարդ անընդհատ մակերևույթների։ Այն զգալիորեն հեշտացնում է պատկերի վիզուալիզացիայի գործընթացը:</a:t>
            </a:r>
            <a:endParaRPr lang="en-US" sz="1600" dirty="0">
              <a:latin typeface="Sylfaen" panose="010A0502050306030303" pitchFamily="18" charset="0"/>
            </a:endParaRPr>
          </a:p>
          <a:p>
            <a:pPr marL="254000" indent="-254000">
              <a:lnSpc>
                <a:spcPct val="10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Ալգորիթմների միջոցով մենք եռանկյունների չափերն ու կողմերն այնպես ենք ընտրում, որ մարդու աչքը չկարողանա նկատել մակերևույթի «կոտրվածքները»։ Արդյունքում, բազմաթիվ  եռանկյուններից մենք ստանում ենք ծավալային ու իրական մոդել։</a:t>
            </a:r>
            <a:endParaRPr lang="en-US" sz="1600" dirty="0">
              <a:latin typeface="Sylfaen" panose="010A0502050306030303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12" y="0"/>
            <a:ext cx="12192000" cy="1371137"/>
          </a:xfrm>
          <a:custGeom>
            <a:avLst/>
            <a:gdLst/>
            <a:ahLst/>
            <a:cxnLst/>
            <a:rect l="l" t="t" r="r" b="b"/>
            <a:pathLst>
              <a:path w="12192000" h="1371137">
                <a:moveTo>
                  <a:pt x="0" y="0"/>
                </a:moveTo>
                <a:lnTo>
                  <a:pt x="12192000" y="0"/>
                </a:lnTo>
                <a:lnTo>
                  <a:pt x="12192000" y="1371137"/>
                </a:lnTo>
                <a:lnTo>
                  <a:pt x="0" y="1371137"/>
                </a:lnTo>
                <a:lnTo>
                  <a:pt x="0" y="0"/>
                </a:lnTo>
                <a:close/>
              </a:path>
            </a:pathLst>
          </a:custGeom>
          <a:solidFill>
            <a:srgbClr val="28445B"/>
          </a:solidFill>
          <a:ln/>
        </p:spPr>
      </p:sp>
      <p:sp>
        <p:nvSpPr>
          <p:cNvPr id="3" name="Shape 1"/>
          <p:cNvSpPr/>
          <p:nvPr/>
        </p:nvSpPr>
        <p:spPr>
          <a:xfrm>
            <a:off x="156221" y="1461048"/>
            <a:ext cx="8496637" cy="5215497"/>
          </a:xfrm>
          <a:custGeom>
            <a:avLst/>
            <a:gdLst/>
            <a:ahLst/>
            <a:cxnLst/>
            <a:rect l="l" t="t" r="r" b="b"/>
            <a:pathLst>
              <a:path w="8496637" h="5215497">
                <a:moveTo>
                  <a:pt x="44196" y="0"/>
                </a:moveTo>
                <a:lnTo>
                  <a:pt x="8408241" y="0"/>
                </a:lnTo>
                <a:cubicBezTo>
                  <a:pt x="8457061" y="0"/>
                  <a:pt x="8496637" y="155678"/>
                  <a:pt x="8496637" y="347717"/>
                </a:cubicBezTo>
                <a:lnTo>
                  <a:pt x="8496637" y="4867779"/>
                </a:lnTo>
                <a:cubicBezTo>
                  <a:pt x="8496637" y="5059818"/>
                  <a:pt x="8457061" y="5215497"/>
                  <a:pt x="8408241" y="5215497"/>
                </a:cubicBezTo>
                <a:lnTo>
                  <a:pt x="44196" y="5215497"/>
                </a:lnTo>
                <a:cubicBezTo>
                  <a:pt x="19787" y="5215497"/>
                  <a:pt x="0" y="5137661"/>
                  <a:pt x="0" y="5041647"/>
                </a:cubicBezTo>
                <a:lnTo>
                  <a:pt x="0" y="173850"/>
                </a:lnTo>
                <a:cubicBezTo>
                  <a:pt x="0" y="77835"/>
                  <a:pt x="19787" y="0"/>
                  <a:pt x="441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587" dist="3705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58522" y="2172487"/>
            <a:ext cx="2247788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3566" y="1677973"/>
            <a:ext cx="3551504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6221" y="431568"/>
            <a:ext cx="8361770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800" b="1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«Քայլող խորանարդների» (Marching Cubes)</a:t>
            </a:r>
            <a:r>
              <a:rPr lang="en-US" sz="18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ալգորիթմ</a:t>
            </a: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91650" y="1461048"/>
            <a:ext cx="8090912" cy="53054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>
              <a:latin typeface="Sylfaen" panose="010A0502050306030303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«Քայլող խորանարդների» (Marching Cubes) ալգորիթմը մակերևույթների եռանկյունացման ամենահայտնի բջջային մեթոդներից է, որն առաջարկվել է Լորենսենի կողմից 1987 թվականին: Ալգորիթմի հիմնական գաղափարն այն է, որ տարածության այն մասը, որտեղ գտնվում է սկզբնական մակերեսը, բաժանվում է խորանարդերի, որից հետո այն բջիջներում, որտեղ մակերեսը հատվում է խորանարդի հետ, հատումը մոտարկվում է եռանկյուններով:</a:t>
            </a:r>
            <a:endParaRPr lang="en-US" sz="1600" dirty="0">
              <a:latin typeface="Sylfaen" panose="010A0502050306030303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Լորենսենի առաջարկած ալգորիթմը հիմնականում բաժանվում է երկու փուլի.</a:t>
            </a:r>
            <a:endParaRPr lang="en-US" sz="1600" dirty="0">
              <a:latin typeface="Sylfaen" panose="010A0502050306030303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1. Տարածության բաժանում և հատվող բջիջների որոնում.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Սկզբում եռաչափ տարածությունը բաժանվում է վերջավոր քանակությամբ բջիջների, և որոնվում են միայն այն բջիջները, որոնք անմիջապես հատվում են որոնվող մակերեսի հետ</a:t>
            </a:r>
            <a:endParaRPr lang="en-US" sz="1600" dirty="0">
              <a:latin typeface="Sylfaen" panose="010A0502050306030303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2. Մակերեսի մոտարկում բջջի ներսում.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Քանի որ խորանարդն ունի 8 գագաթ, ալգորիթմը կիրառում է 8-բիթանոց ինդեքս, որտեղ յուրաքանչյուր գագաթին համապատասխանում է մեկ բիթ: Եթե բջջի գագաթը գտնվում է փնտրվող մակերեսով սահմանափակված ծավալից դուրս, ապա այդ բիթի արժեքը ստանում է «0», իսկ հակառակ դեպքում՝ «1»</a:t>
            </a:r>
            <a:endParaRPr lang="en-US" sz="1600" dirty="0">
              <a:latin typeface="Sylfaen" panose="010A0502050306030303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Երբ եռանկյունացման բազային տարբերակը որոշված է, մնում է միայն գտնել խորանարդի կողերի վրայի այն ճշգրիտ կետերը, որտեղ մակերեսը հատում է դրանք: </a:t>
            </a:r>
            <a:endParaRPr lang="en-US" sz="1600" dirty="0">
              <a:latin typeface="Sylfaen" panose="010A0502050306030303" pitchFamily="18" charset="0"/>
            </a:endParaRPr>
          </a:p>
        </p:txBody>
      </p:sp>
      <p:pic>
        <p:nvPicPr>
          <p:cNvPr id="8" name="Image 0" descr="https://kimi-img.moonshot.cn/pub/slides/26-03-18-07:37:27-d6subdtkjfls0lk28o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102" y="2587833"/>
            <a:ext cx="3311328" cy="274477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62500"/>
            <a:ext cx="12192000" cy="2057400"/>
          </a:xfrm>
          <a:custGeom>
            <a:avLst/>
            <a:gdLst/>
            <a:ahLst/>
            <a:cxnLst/>
            <a:rect l="l" t="t" r="r" b="b"/>
            <a:pathLst>
              <a:path w="12192000" h="2057400">
                <a:moveTo>
                  <a:pt x="0" y="0"/>
                </a:moveTo>
                <a:lnTo>
                  <a:pt x="12192000" y="0"/>
                </a:lnTo>
                <a:lnTo>
                  <a:pt x="121920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58522" y="25850"/>
            <a:ext cx="8507876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2770" y="2105053"/>
            <a:ext cx="2731062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178699" y="-75795"/>
                <a:ext cx="11609823" cy="2450088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t"/>
              <a:lstStyle/>
              <a:p>
                <a:pPr>
                  <a:lnSpc>
                    <a:spcPct val="100000"/>
                  </a:lnSpc>
                </a:pPr>
                <a:r>
                  <a:rPr lang="en-US" sz="1600" b="1" dirty="0">
                    <a:solidFill>
                      <a:srgbClr val="000000"/>
                    </a:solidFill>
                    <a:latin typeface="Sylfaen" panose="010A0502050306030303" pitchFamily="18" charset="0"/>
                    <a:ea typeface="微软雅黑" pitchFamily="34" charset="-122"/>
                    <a:cs typeface="微软雅黑" pitchFamily="34" charset="-120"/>
                  </a:rPr>
                  <a:t>Խնդիր 1: </a:t>
                </a:r>
                <a:r>
                  <a:rPr lang="en-US" sz="1600" dirty="0">
                    <a:solidFill>
                      <a:srgbClr val="000000"/>
                    </a:solidFill>
                    <a:latin typeface="Sylfaen" panose="010A0502050306030303" pitchFamily="18" charset="0"/>
                    <a:ea typeface="微软雅黑" pitchFamily="34" charset="-122"/>
                    <a:cs typeface="微软雅黑" pitchFamily="34" charset="-120"/>
                  </a:rPr>
                  <a:t>խնդրի նպատակն է իրականացնել եռաչափ մակերևույթի եռանկյունացում, որը տրված է  անբացահայտ ֆունկցիայով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100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/2+</m:t>
                    </m:r>
                    <m:sSup>
                      <m:sSupPr>
                        <m:ctrlPr>
                          <a:rPr lang="en-US" sz="11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100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/3+</m:t>
                    </m:r>
                    <m:sSup>
                      <m:sSupPr>
                        <m:ctrlPr>
                          <a:rPr lang="en-US" sz="11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1100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/4−15=0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Sylfaen" panose="010A0502050306030303" pitchFamily="18" charset="0"/>
                    <a:ea typeface="微软雅黑" pitchFamily="34" charset="-122"/>
                    <a:cs typeface="微软雅黑" pitchFamily="34" charset="-120"/>
                  </a:rPr>
                  <a:t>   (այն իրենից ներկայացնում է էլիպսոիդ)՝ կիրառելով բացառապես «Քայլող խորանարդների» բջջային ալգորիթմը: :Քանի որ «Քայլող խորանարդների» ալգորիթմը բջջային մեթոդ է, որտեղ յուրաքանչյուր խորանարդ մշակվում է մյուսներից լրիվ անկախ և հիմնվում է պատրաստի աղյուսակների վրա, այն ապահովում է բարձր հաշվարկային արագություն: Հենց այս արագագործության և ալգորիթմի արդյունավետության շնորհիվ,  առաջին խնդրի լուծման արդյունքում ծրագիրը շատ գեներացրել է 8868 գագաթ (կետ) և կառուցել է 2956 եռանկյուն՝ ապահովելով անբացահայտ ֆունկցիայով տրված օբյեկտի ամբողջական ու ծավալային վիզուալիզացիան:</a:t>
                </a:r>
                <a:endParaRPr lang="en-US" sz="1600" dirty="0">
                  <a:latin typeface="Sylfaen" panose="010A0502050306030303" pitchFamily="18" charset="0"/>
                </a:endParaRPr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99" y="-75795"/>
                <a:ext cx="11609823" cy="2450088"/>
              </a:xfrm>
              <a:prstGeom prst="rect">
                <a:avLst/>
              </a:prstGeom>
              <a:blipFill rotWithShape="0">
                <a:blip r:embed="rId3"/>
                <a:stretch>
                  <a:fillRect l="-262" t="-74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0" descr="https://kimi-img.moonshot.cn/pub/slides/26-03-18-08:05:56-d6suop2misdqrs7vpam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99" y="2846328"/>
            <a:ext cx="4865516" cy="3196132"/>
          </a:xfrm>
          <a:prstGeom prst="rect">
            <a:avLst/>
          </a:prstGeom>
        </p:spPr>
      </p:pic>
      <p:pic>
        <p:nvPicPr>
          <p:cNvPr id="7" name="Image 1" descr="https://kimi-img.moonshot.cn/pub/slides/26-03-18-08:06:16-d6suou5qip67sdosu8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552" y="2846328"/>
            <a:ext cx="3805594" cy="3196132"/>
          </a:xfrm>
          <a:prstGeom prst="rect">
            <a:avLst/>
          </a:prstGeom>
        </p:spPr>
      </p:pic>
      <p:pic>
        <p:nvPicPr>
          <p:cNvPr id="8" name="Image 2" descr="https://kimi-img.moonshot.cn/pub/slides/26-03-18-08:06:35-d6sup2pa9tphhltmvvk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4328" y="2846328"/>
            <a:ext cx="2781539" cy="319613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7661" y="1415741"/>
            <a:ext cx="11188756" cy="5310960"/>
          </a:xfrm>
          <a:custGeom>
            <a:avLst/>
            <a:gdLst/>
            <a:ahLst/>
            <a:cxnLst/>
            <a:rect l="l" t="t" r="r" b="b"/>
            <a:pathLst>
              <a:path w="11188756" h="5310960">
                <a:moveTo>
                  <a:pt x="71494" y="0"/>
                </a:moveTo>
                <a:lnTo>
                  <a:pt x="11045783" y="0"/>
                </a:lnTo>
                <a:cubicBezTo>
                  <a:pt x="11124745" y="0"/>
                  <a:pt x="11188756" y="105669"/>
                  <a:pt x="11188756" y="236019"/>
                </a:cubicBezTo>
                <a:lnTo>
                  <a:pt x="11188756" y="5074941"/>
                </a:lnTo>
                <a:cubicBezTo>
                  <a:pt x="11188756" y="5205291"/>
                  <a:pt x="11124745" y="5310960"/>
                  <a:pt x="11045783" y="5310960"/>
                </a:cubicBezTo>
                <a:lnTo>
                  <a:pt x="71494" y="5310960"/>
                </a:lnTo>
                <a:cubicBezTo>
                  <a:pt x="32035" y="5310960"/>
                  <a:pt x="0" y="5258077"/>
                  <a:pt x="0" y="5192939"/>
                </a:cubicBezTo>
                <a:lnTo>
                  <a:pt x="0" y="118021"/>
                </a:lnTo>
                <a:cubicBezTo>
                  <a:pt x="0" y="52884"/>
                  <a:pt x="32035" y="0"/>
                  <a:pt x="714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1326181"/>
          </a:xfrm>
          <a:custGeom>
            <a:avLst/>
            <a:gdLst/>
            <a:ahLst/>
            <a:cxnLst/>
            <a:rect l="l" t="t" r="r" b="b"/>
            <a:pathLst>
              <a:path w="12192000" h="1326181">
                <a:moveTo>
                  <a:pt x="0" y="0"/>
                </a:moveTo>
                <a:lnTo>
                  <a:pt x="12192000" y="0"/>
                </a:lnTo>
                <a:lnTo>
                  <a:pt x="12192000" y="1326181"/>
                </a:lnTo>
                <a:lnTo>
                  <a:pt x="0" y="1326181"/>
                </a:lnTo>
                <a:lnTo>
                  <a:pt x="0" y="0"/>
                </a:lnTo>
                <a:close/>
              </a:path>
            </a:pathLst>
          </a:custGeom>
          <a:solidFill>
            <a:srgbClr val="243B6E"/>
          </a:solidFill>
          <a:ln/>
        </p:spPr>
      </p:sp>
      <p:sp>
        <p:nvSpPr>
          <p:cNvPr id="4" name="Text 2"/>
          <p:cNvSpPr/>
          <p:nvPr/>
        </p:nvSpPr>
        <p:spPr>
          <a:xfrm>
            <a:off x="425956" y="465665"/>
            <a:ext cx="5833009" cy="730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2000" b="1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Դելոնեի եռանկյունացուման ալգորիթմ</a:t>
            </a: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5956" y="1415741"/>
            <a:ext cx="6911947" cy="48428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Որ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պեսզի եռանկյունների ցանցը համարվի Դելոնեի եռանկյունացում, այն պետք է բավարարի մեկ պարզ, բայց խիստ պայմանի. </a:t>
            </a:r>
            <a:r>
              <a:rPr lang="en-US" sz="1600" b="1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կամայական եռանկյանը արտագծված շրջանագծի ներսում չպետք է գտնվի տրված բազմության ոչ մի այլ կետ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»։ Եթե որևէ կետ հայտնվում է շրջանագծի ներսում, ուրեմն կողը «չթույլատրվող» է և ենթակա է տեղափոխման կամ վերակառուցման:</a:t>
            </a:r>
            <a:endParaRPr lang="en-US" sz="1600" dirty="0">
              <a:latin typeface="Sylfaen" panose="010A0502050306030303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Ինչու՞ ենք մենք օգտագործում հենց այս մեթոդը (Գլխավոր առավելությունը) </a:t>
            </a:r>
            <a:endParaRPr lang="en-US" sz="1600" dirty="0">
              <a:latin typeface="Sylfaen" panose="010A0502050306030303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Դելոնեի եռանկյունացման ամենամեծ գործնական առավելությունն </a:t>
            </a:r>
            <a:r>
              <a:rPr lang="en-US" sz="1600" dirty="0" err="1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այն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է, </a:t>
            </a:r>
            <a:r>
              <a:rPr lang="en-US" sz="1600" dirty="0" err="1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որ</a:t>
            </a:r>
            <a:r>
              <a:rPr lang="en-US" sz="1600" dirty="0" smtClean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 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ալգորիթմը խուսափում է չափազանց նեղ և անտեղի ձգված եռանկյուններ կառուցելուց։ Արդյունքում մենք ստանում ենք շատ կոկիկ, համաչափ մոդել, որը իդեալական է պահպանում մակերևույթի տեղային կորությունները և մանր դետալն</a:t>
            </a:r>
            <a:endParaRPr lang="en-US" sz="1600" dirty="0">
              <a:latin typeface="Sylfaen" panose="010A0502050306030303" pitchFamily="18" charset="0"/>
            </a:endParaRPr>
          </a:p>
        </p:txBody>
      </p:sp>
      <p:pic>
        <p:nvPicPr>
          <p:cNvPr id="6" name="Image 0" descr="https://kimi-img.moonshot.cn/pub/slides/26-03-18-08:33:25-d6sv5l8hklbpnc48nnk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646" y="2293102"/>
            <a:ext cx="2777928" cy="249024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094" y="154640"/>
            <a:ext cx="11433540" cy="558969"/>
          </a:xfrm>
          <a:custGeom>
            <a:avLst/>
            <a:gdLst/>
            <a:ahLst/>
            <a:cxnLst/>
            <a:rect l="l" t="t" r="r" b="b"/>
            <a:pathLst>
              <a:path w="11433540" h="558969">
                <a:moveTo>
                  <a:pt x="72136" y="0"/>
                </a:moveTo>
                <a:lnTo>
                  <a:pt x="11289280" y="0"/>
                </a:lnTo>
                <a:cubicBezTo>
                  <a:pt x="11368900" y="0"/>
                  <a:pt x="11433540" y="13723"/>
                  <a:pt x="11433540" y="30626"/>
                </a:cubicBezTo>
                <a:lnTo>
                  <a:pt x="11433540" y="528343"/>
                </a:lnTo>
                <a:cubicBezTo>
                  <a:pt x="11433540" y="545246"/>
                  <a:pt x="11368900" y="558969"/>
                  <a:pt x="11289280" y="558969"/>
                </a:cubicBezTo>
                <a:lnTo>
                  <a:pt x="72136" y="558969"/>
                </a:lnTo>
                <a:cubicBezTo>
                  <a:pt x="32323" y="558969"/>
                  <a:pt x="0" y="552107"/>
                  <a:pt x="0" y="543654"/>
                </a:cubicBezTo>
                <a:lnTo>
                  <a:pt x="0" y="15314"/>
                </a:lnTo>
                <a:cubicBezTo>
                  <a:pt x="0" y="6862"/>
                  <a:pt x="32323" y="0"/>
                  <a:pt x="721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55094" y="812744"/>
            <a:ext cx="9893806" cy="1423973"/>
          </a:xfrm>
          <a:custGeom>
            <a:avLst/>
            <a:gdLst/>
            <a:ahLst/>
            <a:cxnLst/>
            <a:rect l="l" t="t" r="r" b="b"/>
            <a:pathLst>
              <a:path w="9893806" h="1423973">
                <a:moveTo>
                  <a:pt x="62421" y="0"/>
                </a:moveTo>
                <a:lnTo>
                  <a:pt x="9768957" y="0"/>
                </a:lnTo>
                <a:cubicBezTo>
                  <a:pt x="9837909" y="0"/>
                  <a:pt x="9893806" y="42504"/>
                  <a:pt x="9893806" y="94936"/>
                </a:cubicBezTo>
                <a:lnTo>
                  <a:pt x="9893806" y="1329037"/>
                </a:lnTo>
                <a:cubicBezTo>
                  <a:pt x="9893806" y="1381469"/>
                  <a:pt x="9837909" y="1423973"/>
                  <a:pt x="9768957" y="1423973"/>
                </a:cubicBezTo>
                <a:lnTo>
                  <a:pt x="62421" y="1423973"/>
                </a:lnTo>
                <a:cubicBezTo>
                  <a:pt x="27970" y="1423973"/>
                  <a:pt x="0" y="1402705"/>
                  <a:pt x="0" y="1376508"/>
                </a:cubicBezTo>
                <a:lnTo>
                  <a:pt x="0" y="47466"/>
                </a:lnTo>
                <a:cubicBezTo>
                  <a:pt x="0" y="21269"/>
                  <a:pt x="27970" y="0"/>
                  <a:pt x="6242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1200" y="246566"/>
            <a:ext cx="762000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Խնդիր 2. Ալգորիթմների համակցում («Քայլող խորանարդներ» + Դելոնե)</a:t>
            </a: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55094" y="812744"/>
            <a:ext cx="9990689" cy="16604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Եթե առաջին խնդրում էլիպսոիդի կառուցման համար կիրառեցինք միայն «Քայլող խորանարդների» բջջային մեթոդը, ապա </a:t>
            </a:r>
            <a:r>
              <a:rPr lang="en-US" sz="1600" b="1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երկրորդ խնդրի նպատակն էր համակցել երկու մեթոդները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։ Նպատակ Է օգտագործել բջջային մեթոդը՝ կետերը տարածության մեջ արագ գտնելու համար, իսկ Դելոնեի ալգորիթմը՝ այդ կետերը մաթեմատիկորեն ամենաօպտիմալ և կոկիկ եռանկյուններով միացնելու համար»։</a:t>
            </a:r>
            <a:endParaRPr lang="en-US" sz="1600" dirty="0">
              <a:latin typeface="Sylfaen" panose="010A0502050306030303" pitchFamily="18" charset="0"/>
            </a:endParaRPr>
          </a:p>
        </p:txBody>
      </p:sp>
      <p:pic>
        <p:nvPicPr>
          <p:cNvPr id="6" name="Image 0" descr="https://kimi-img.moonshot.cn/pub/slides/26-03-18-09:09:34-d6svmjldbv1l0re4otu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94" y="2391775"/>
            <a:ext cx="5005378" cy="3220592"/>
          </a:xfrm>
          <a:prstGeom prst="rect">
            <a:avLst/>
          </a:prstGeom>
        </p:spPr>
      </p:pic>
      <p:pic>
        <p:nvPicPr>
          <p:cNvPr id="7" name="Image 1" descr="https://kimi-img.moonshot.cn/pub/slides/26-03-18-09:09:57-d6svmp8hklbpnc494a7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891" y="2391775"/>
            <a:ext cx="3821310" cy="343753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094" y="154640"/>
            <a:ext cx="11433540" cy="558969"/>
          </a:xfrm>
          <a:custGeom>
            <a:avLst/>
            <a:gdLst/>
            <a:ahLst/>
            <a:cxnLst/>
            <a:rect l="l" t="t" r="r" b="b"/>
            <a:pathLst>
              <a:path w="11433540" h="558969">
                <a:moveTo>
                  <a:pt x="72136" y="0"/>
                </a:moveTo>
                <a:lnTo>
                  <a:pt x="11289280" y="0"/>
                </a:lnTo>
                <a:cubicBezTo>
                  <a:pt x="11368900" y="0"/>
                  <a:pt x="11433540" y="13723"/>
                  <a:pt x="11433540" y="30626"/>
                </a:cubicBezTo>
                <a:lnTo>
                  <a:pt x="11433540" y="528343"/>
                </a:lnTo>
                <a:cubicBezTo>
                  <a:pt x="11433540" y="545246"/>
                  <a:pt x="11368900" y="558969"/>
                  <a:pt x="11289280" y="558969"/>
                </a:cubicBezTo>
                <a:lnTo>
                  <a:pt x="72136" y="558969"/>
                </a:lnTo>
                <a:cubicBezTo>
                  <a:pt x="32323" y="558969"/>
                  <a:pt x="0" y="552107"/>
                  <a:pt x="0" y="543654"/>
                </a:cubicBezTo>
                <a:lnTo>
                  <a:pt x="0" y="15314"/>
                </a:lnTo>
                <a:cubicBezTo>
                  <a:pt x="0" y="6862"/>
                  <a:pt x="32323" y="0"/>
                  <a:pt x="721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1200" y="246566"/>
            <a:ext cx="762000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Խնդիր 2. Ալգորիթմների համակցում («Քայլող խորանարդներ» + Դելոնե)</a:t>
            </a:r>
            <a:endParaRPr lang="en-US" sz="1600" dirty="0">
              <a:latin typeface="Sylfaen" panose="010A0502050306030303" pitchFamily="18" charset="0"/>
            </a:endParaRPr>
          </a:p>
        </p:txBody>
      </p:sp>
      <p:pic>
        <p:nvPicPr>
          <p:cNvPr id="4" name="Image 0" descr="https://kimi-img.moonshot.cn/pub/slides/26-03-18-09:10:27-d6svn0uahlmfngu3nf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94" y="1569343"/>
            <a:ext cx="5244105" cy="3256613"/>
          </a:xfrm>
          <a:prstGeom prst="rect">
            <a:avLst/>
          </a:prstGeom>
        </p:spPr>
      </p:pic>
      <p:pic>
        <p:nvPicPr>
          <p:cNvPr id="5" name="Image 1" descr="https://kimi-img.moonshot.cn/pub/slides/26-03-18-09:22:03-d6svset96bk0hn8odf7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982" y="1117582"/>
            <a:ext cx="6209763" cy="4160136"/>
          </a:xfrm>
          <a:prstGeom prst="rect">
            <a:avLst/>
          </a:prstGeom>
        </p:spPr>
      </p:pic>
      <p:pic>
        <p:nvPicPr>
          <p:cNvPr id="6" name="Image 2" descr="https://kimi-img.moonshot.cn/pub/slides/26-03-18-09:22:28-d6svsl0qf0fjhbugqj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416" y="2177696"/>
            <a:ext cx="3129089" cy="27419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custGeom>
            <a:avLst/>
            <a:gdLst/>
            <a:ahLst/>
            <a:cxnLst/>
            <a:rect l="l" t="t" r="r" b="b"/>
            <a:pathLst>
              <a:path w="12192000" h="1371600">
                <a:moveTo>
                  <a:pt x="0" y="0"/>
                </a:moveTo>
                <a:lnTo>
                  <a:pt x="12192000" y="0"/>
                </a:lnTo>
                <a:lnTo>
                  <a:pt x="121920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3205"/>
            <a:ext cx="9391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Sylfaen" panose="010A0502050306030303" pitchFamily="18" charset="0"/>
                <a:ea typeface="MiSans" pitchFamily="34" charset="-122"/>
                <a:cs typeface="MiSans" pitchFamily="34" charset="-120"/>
              </a:rPr>
              <a:t>Համեմատություն</a:t>
            </a: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3400" y="1238250"/>
            <a:ext cx="3581400" cy="3747174"/>
          </a:xfrm>
          <a:custGeom>
            <a:avLst/>
            <a:gdLst/>
            <a:ahLst/>
            <a:cxnLst/>
            <a:rect l="l" t="t" r="r" b="b"/>
            <a:pathLst>
              <a:path w="3581400" h="3747174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4110"/>
                  <a:pt x="3581400" y="31489"/>
                </a:cubicBezTo>
                <a:lnTo>
                  <a:pt x="3581400" y="3652722"/>
                </a:lnTo>
                <a:cubicBezTo>
                  <a:pt x="3581400" y="3704887"/>
                  <a:pt x="3530234" y="3747174"/>
                  <a:pt x="3467118" y="3747174"/>
                </a:cubicBezTo>
                <a:lnTo>
                  <a:pt x="114282" y="3747174"/>
                </a:lnTo>
                <a:cubicBezTo>
                  <a:pt x="51166" y="3747174"/>
                  <a:pt x="0" y="3704887"/>
                  <a:pt x="0" y="3652722"/>
                </a:cubicBezTo>
                <a:lnTo>
                  <a:pt x="0" y="31489"/>
                </a:lnTo>
                <a:cubicBezTo>
                  <a:pt x="0" y="14110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3400" y="1238250"/>
            <a:ext cx="3581400" cy="38100"/>
          </a:xfrm>
          <a:custGeom>
            <a:avLst/>
            <a:gdLst/>
            <a:ahLst/>
            <a:cxnLst/>
            <a:rect l="l" t="t" r="r" b="b"/>
            <a:pathLst>
              <a:path w="3581400" h="38100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7072"/>
                  <a:pt x="3581400" y="38100"/>
                </a:cubicBezTo>
                <a:lnTo>
                  <a:pt x="35814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" name="Shape 4"/>
          <p:cNvSpPr/>
          <p:nvPr/>
        </p:nvSpPr>
        <p:spPr>
          <a:xfrm>
            <a:off x="848439" y="2990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305300" y="1238250"/>
            <a:ext cx="3581400" cy="3747174"/>
          </a:xfrm>
          <a:custGeom>
            <a:avLst/>
            <a:gdLst/>
            <a:ahLst/>
            <a:cxnLst/>
            <a:rect l="l" t="t" r="r" b="b"/>
            <a:pathLst>
              <a:path w="3581400" h="3747174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4110"/>
                  <a:pt x="3581400" y="31489"/>
                </a:cubicBezTo>
                <a:lnTo>
                  <a:pt x="3581400" y="3652722"/>
                </a:lnTo>
                <a:cubicBezTo>
                  <a:pt x="3581400" y="3704887"/>
                  <a:pt x="3530234" y="3747174"/>
                  <a:pt x="3467118" y="3747174"/>
                </a:cubicBezTo>
                <a:lnTo>
                  <a:pt x="114282" y="3747174"/>
                </a:lnTo>
                <a:cubicBezTo>
                  <a:pt x="51166" y="3747174"/>
                  <a:pt x="0" y="3704887"/>
                  <a:pt x="0" y="3652722"/>
                </a:cubicBezTo>
                <a:lnTo>
                  <a:pt x="0" y="31489"/>
                </a:lnTo>
                <a:cubicBezTo>
                  <a:pt x="0" y="14110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05300" y="1238250"/>
            <a:ext cx="3581400" cy="38100"/>
          </a:xfrm>
          <a:custGeom>
            <a:avLst/>
            <a:gdLst/>
            <a:ahLst/>
            <a:cxnLst/>
            <a:rect l="l" t="t" r="r" b="b"/>
            <a:pathLst>
              <a:path w="3581400" h="38100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7072"/>
                  <a:pt x="3581400" y="38100"/>
                </a:cubicBezTo>
                <a:lnTo>
                  <a:pt x="35814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4522946" y="31242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-5953"/>
                </a:moveTo>
                <a:cubicBezTo>
                  <a:pt x="113742" y="-5953"/>
                  <a:pt x="119063" y="-633"/>
                  <a:pt x="119063" y="5953"/>
                </a:cubicBezTo>
                <a:lnTo>
                  <a:pt x="119063" y="12762"/>
                </a:lnTo>
                <a:cubicBezTo>
                  <a:pt x="155563" y="17971"/>
                  <a:pt x="184435" y="46844"/>
                  <a:pt x="189644" y="83344"/>
                </a:cubicBezTo>
                <a:lnTo>
                  <a:pt x="196453" y="83344"/>
                </a:lnTo>
                <a:cubicBezTo>
                  <a:pt x="203039" y="83344"/>
                  <a:pt x="208359" y="88664"/>
                  <a:pt x="208359" y="95250"/>
                </a:cubicBezTo>
                <a:cubicBezTo>
                  <a:pt x="208359" y="101836"/>
                  <a:pt x="203039" y="107156"/>
                  <a:pt x="196453" y="107156"/>
                </a:cubicBezTo>
                <a:lnTo>
                  <a:pt x="189644" y="107156"/>
                </a:lnTo>
                <a:cubicBezTo>
                  <a:pt x="184435" y="143656"/>
                  <a:pt x="155563" y="172529"/>
                  <a:pt x="119063" y="177738"/>
                </a:cubicBezTo>
                <a:lnTo>
                  <a:pt x="119063" y="184547"/>
                </a:lnTo>
                <a:cubicBezTo>
                  <a:pt x="119063" y="191133"/>
                  <a:pt x="113742" y="196453"/>
                  <a:pt x="107156" y="196453"/>
                </a:cubicBezTo>
                <a:cubicBezTo>
                  <a:pt x="100571" y="196453"/>
                  <a:pt x="95250" y="191133"/>
                  <a:pt x="95250" y="184547"/>
                </a:cubicBezTo>
                <a:lnTo>
                  <a:pt x="95250" y="177738"/>
                </a:lnTo>
                <a:cubicBezTo>
                  <a:pt x="58750" y="172529"/>
                  <a:pt x="29877" y="143656"/>
                  <a:pt x="24668" y="107156"/>
                </a:cubicBezTo>
                <a:lnTo>
                  <a:pt x="17859" y="107156"/>
                </a:lnTo>
                <a:cubicBezTo>
                  <a:pt x="11274" y="107156"/>
                  <a:pt x="5953" y="101836"/>
                  <a:pt x="5953" y="95250"/>
                </a:cubicBezTo>
                <a:cubicBezTo>
                  <a:pt x="5953" y="88664"/>
                  <a:pt x="11274" y="83344"/>
                  <a:pt x="17859" y="83344"/>
                </a:cubicBezTo>
                <a:lnTo>
                  <a:pt x="24668" y="83344"/>
                </a:lnTo>
                <a:cubicBezTo>
                  <a:pt x="29877" y="46844"/>
                  <a:pt x="58750" y="17971"/>
                  <a:pt x="95250" y="12762"/>
                </a:cubicBezTo>
                <a:lnTo>
                  <a:pt x="95250" y="5953"/>
                </a:lnTo>
                <a:cubicBezTo>
                  <a:pt x="95250" y="-633"/>
                  <a:pt x="100571" y="-5953"/>
                  <a:pt x="107156" y="-5953"/>
                </a:cubicBezTo>
                <a:close/>
                <a:moveTo>
                  <a:pt x="48816" y="107156"/>
                </a:moveTo>
                <a:cubicBezTo>
                  <a:pt x="53541" y="130485"/>
                  <a:pt x="71921" y="148865"/>
                  <a:pt x="95250" y="153591"/>
                </a:cubicBezTo>
                <a:lnTo>
                  <a:pt x="95250" y="148828"/>
                </a:lnTo>
                <a:cubicBezTo>
                  <a:pt x="95250" y="142242"/>
                  <a:pt x="100571" y="136922"/>
                  <a:pt x="107156" y="136922"/>
                </a:cubicBezTo>
                <a:cubicBezTo>
                  <a:pt x="113742" y="136922"/>
                  <a:pt x="119063" y="142242"/>
                  <a:pt x="119063" y="148828"/>
                </a:cubicBezTo>
                <a:lnTo>
                  <a:pt x="119063" y="153591"/>
                </a:lnTo>
                <a:cubicBezTo>
                  <a:pt x="142391" y="148865"/>
                  <a:pt x="160772" y="130485"/>
                  <a:pt x="165497" y="107156"/>
                </a:cubicBezTo>
                <a:lnTo>
                  <a:pt x="160734" y="107156"/>
                </a:lnTo>
                <a:cubicBezTo>
                  <a:pt x="154149" y="107156"/>
                  <a:pt x="148828" y="101836"/>
                  <a:pt x="148828" y="95250"/>
                </a:cubicBezTo>
                <a:cubicBezTo>
                  <a:pt x="148828" y="88664"/>
                  <a:pt x="154149" y="83344"/>
                  <a:pt x="160734" y="83344"/>
                </a:cubicBezTo>
                <a:lnTo>
                  <a:pt x="165497" y="83344"/>
                </a:lnTo>
                <a:cubicBezTo>
                  <a:pt x="160772" y="60015"/>
                  <a:pt x="142391" y="41635"/>
                  <a:pt x="119063" y="36909"/>
                </a:cubicBezTo>
                <a:lnTo>
                  <a:pt x="119063" y="41672"/>
                </a:lnTo>
                <a:cubicBezTo>
                  <a:pt x="119063" y="48258"/>
                  <a:pt x="113742" y="53578"/>
                  <a:pt x="107156" y="53578"/>
                </a:cubicBezTo>
                <a:cubicBezTo>
                  <a:pt x="100571" y="53578"/>
                  <a:pt x="95250" y="48258"/>
                  <a:pt x="95250" y="41672"/>
                </a:cubicBezTo>
                <a:lnTo>
                  <a:pt x="95250" y="36909"/>
                </a:lnTo>
                <a:cubicBezTo>
                  <a:pt x="71921" y="41635"/>
                  <a:pt x="53541" y="60015"/>
                  <a:pt x="48816" y="83344"/>
                </a:cubicBezTo>
                <a:lnTo>
                  <a:pt x="53578" y="83344"/>
                </a:lnTo>
                <a:cubicBezTo>
                  <a:pt x="60164" y="83344"/>
                  <a:pt x="65484" y="88664"/>
                  <a:pt x="65484" y="95250"/>
                </a:cubicBezTo>
                <a:cubicBezTo>
                  <a:pt x="65484" y="101836"/>
                  <a:pt x="60164" y="107156"/>
                  <a:pt x="53578" y="107156"/>
                </a:cubicBezTo>
                <a:lnTo>
                  <a:pt x="48816" y="107156"/>
                </a:lnTo>
                <a:close/>
                <a:moveTo>
                  <a:pt x="107156" y="77391"/>
                </a:moveTo>
                <a:cubicBezTo>
                  <a:pt x="117013" y="77391"/>
                  <a:pt x="125016" y="85393"/>
                  <a:pt x="125016" y="95250"/>
                </a:cubicBezTo>
                <a:cubicBezTo>
                  <a:pt x="125016" y="105107"/>
                  <a:pt x="117013" y="113109"/>
                  <a:pt x="107156" y="113109"/>
                </a:cubicBezTo>
                <a:cubicBezTo>
                  <a:pt x="97299" y="113109"/>
                  <a:pt x="89297" y="105107"/>
                  <a:pt x="89297" y="95250"/>
                </a:cubicBezTo>
                <a:cubicBezTo>
                  <a:pt x="89297" y="85393"/>
                  <a:pt x="97299" y="77391"/>
                  <a:pt x="107156" y="7739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305300" y="1238250"/>
            <a:ext cx="3581400" cy="38100"/>
          </a:xfrm>
          <a:custGeom>
            <a:avLst/>
            <a:gdLst/>
            <a:ahLst/>
            <a:cxnLst/>
            <a:rect l="l" t="t" r="r" b="b"/>
            <a:pathLst>
              <a:path w="3581400" h="38100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7072"/>
                  <a:pt x="3581400" y="38100"/>
                </a:cubicBezTo>
                <a:lnTo>
                  <a:pt x="35814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1" name="Text 9"/>
          <p:cNvSpPr/>
          <p:nvPr/>
        </p:nvSpPr>
        <p:spPr>
          <a:xfrm>
            <a:off x="763124" y="1371600"/>
            <a:ext cx="3351676" cy="36138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Առանց Դելոնեի (Միայն Marching Cubes).</a:t>
            </a:r>
            <a:r>
              <a:rPr lang="en-US" sz="1600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Էլիպսոիդի մոդելավորման ժամանակ ստացվել է </a:t>
            </a:r>
            <a:r>
              <a:rPr lang="en-US" sz="1600" b="1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2956 եռանկյուն</a:t>
            </a:r>
            <a:r>
              <a:rPr lang="en-US" sz="1600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: Մոդելը ավելի պարզ է, բայց պակաս դետալիզացված: Մակերևույթի տեսողական ընկալման ժամանակ կարող են նկատվել «կոտրվածքներ» կամ անհարթություններ, քանի որ մեթոդը քիչ զգայուն է տեղային կորությունների նկատմամ</a:t>
            </a:r>
            <a:r>
              <a:rPr lang="en-US" sz="16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բ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23698" y="1466572"/>
            <a:ext cx="3092095" cy="35394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Դելոնեի մեթոդով (Խնդիր 2).</a:t>
            </a:r>
            <a:r>
              <a:rPr lang="en-US" sz="1600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Նույն էլիպսոիդի համար ստացվել է </a:t>
            </a:r>
            <a:r>
              <a:rPr lang="en-US" sz="1600" b="1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7742 եռանկյուն</a:t>
            </a:r>
            <a:r>
              <a:rPr lang="en-US" sz="1600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: Սա ցույց է տալիս, որ համակցված մեթոդը ապահովում է ավելի մեծ խտություն և երկրաչափական բարձր ճշգրտություն:Դելոնեի մեթոդով ստացված եռանկյունների ավելի մեծ քանակը թույլ է տալիս ավելի ճշգրիտ մոտարկել մակերևույթի տեղային կորությունները</a:t>
            </a:r>
            <a:endParaRPr lang="en-US" dirty="0">
              <a:latin typeface="Sylfaen" panose="010A0502050306030303" pitchFamily="18" charset="0"/>
            </a:endParaRPr>
          </a:p>
        </p:txBody>
      </p:sp>
      <p:pic>
        <p:nvPicPr>
          <p:cNvPr id="13" name="Image 0" descr="https://kimi-img.moonshot.cn/pub/slides/26-03-18-09:26:03-d6svuav826pjlqvc3hs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862" y="3811124"/>
            <a:ext cx="3799338" cy="2482850"/>
          </a:xfrm>
          <a:prstGeom prst="rect">
            <a:avLst/>
          </a:prstGeom>
        </p:spPr>
      </p:pic>
      <p:pic>
        <p:nvPicPr>
          <p:cNvPr id="14" name="Image 1" descr="https://kimi-img.moonshot.cn/pub/slides/26-03-18-09:26:07-d6svubqav1f642j7un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9204" y="354924"/>
            <a:ext cx="3310654" cy="31502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3400" y="5218239"/>
            <a:ext cx="7586606" cy="7048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Որպեսզի ցույց տանք Դելոնեի մեթոդի բարձր ճշգրտությունը մանր դետալների վրա, առանձնացվել է էլիպսոիդի լոկալ մի հատված՝ բաղկացած ընդամենը </a:t>
            </a:r>
            <a:r>
              <a:rPr lang="en-US" sz="1600" b="1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225 կետից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։ Այս փոքր հատվածի վրա ալգորիթմը կառուցել է </a:t>
            </a:r>
            <a:r>
              <a:rPr lang="en-US" sz="1600" b="1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392 եռանկյուն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՝ ցուցադրելով ցանցի կատարյալ հավասարակշռվածությունը</a:t>
            </a:r>
            <a:endParaRPr lang="en-US" sz="1600" dirty="0">
              <a:latin typeface="Sylfaen" panose="010A0502050306030303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custGeom>
            <a:avLst/>
            <a:gdLst/>
            <a:ahLst/>
            <a:cxnLst/>
            <a:rect l="l" t="t" r="r" b="b"/>
            <a:pathLst>
              <a:path w="12192000" h="1371600">
                <a:moveTo>
                  <a:pt x="0" y="0"/>
                </a:moveTo>
                <a:lnTo>
                  <a:pt x="12192000" y="0"/>
                </a:lnTo>
                <a:lnTo>
                  <a:pt x="121920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433205"/>
            <a:ext cx="9391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1EB"/>
                </a:solidFill>
                <a:latin typeface="Sylfaen" panose="010A0502050306030303" pitchFamily="18" charset="0"/>
                <a:ea typeface="MiSans" pitchFamily="34" charset="-122"/>
                <a:cs typeface="MiSans" pitchFamily="34" charset="-120"/>
              </a:rPr>
              <a:t>Համեմատություն</a:t>
            </a: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3400" y="1238250"/>
            <a:ext cx="3581400" cy="3747174"/>
          </a:xfrm>
          <a:custGeom>
            <a:avLst/>
            <a:gdLst/>
            <a:ahLst/>
            <a:cxnLst/>
            <a:rect l="l" t="t" r="r" b="b"/>
            <a:pathLst>
              <a:path w="3581400" h="3747174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4110"/>
                  <a:pt x="3581400" y="31489"/>
                </a:cubicBezTo>
                <a:lnTo>
                  <a:pt x="3581400" y="3652722"/>
                </a:lnTo>
                <a:cubicBezTo>
                  <a:pt x="3581400" y="3704887"/>
                  <a:pt x="3530234" y="3747174"/>
                  <a:pt x="3467118" y="3747174"/>
                </a:cubicBezTo>
                <a:lnTo>
                  <a:pt x="114282" y="3747174"/>
                </a:lnTo>
                <a:cubicBezTo>
                  <a:pt x="51166" y="3747174"/>
                  <a:pt x="0" y="3704887"/>
                  <a:pt x="0" y="3652722"/>
                </a:cubicBezTo>
                <a:lnTo>
                  <a:pt x="0" y="31489"/>
                </a:lnTo>
                <a:cubicBezTo>
                  <a:pt x="0" y="14110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3400" y="1238250"/>
            <a:ext cx="3581400" cy="38100"/>
          </a:xfrm>
          <a:custGeom>
            <a:avLst/>
            <a:gdLst/>
            <a:ahLst/>
            <a:cxnLst/>
            <a:rect l="l" t="t" r="r" b="b"/>
            <a:pathLst>
              <a:path w="3581400" h="38100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7072"/>
                  <a:pt x="3581400" y="38100"/>
                </a:cubicBezTo>
                <a:lnTo>
                  <a:pt x="35814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" name="Shape 4"/>
          <p:cNvSpPr/>
          <p:nvPr/>
        </p:nvSpPr>
        <p:spPr>
          <a:xfrm>
            <a:off x="848439" y="2990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305300" y="1238250"/>
            <a:ext cx="3581400" cy="3747174"/>
          </a:xfrm>
          <a:custGeom>
            <a:avLst/>
            <a:gdLst/>
            <a:ahLst/>
            <a:cxnLst/>
            <a:rect l="l" t="t" r="r" b="b"/>
            <a:pathLst>
              <a:path w="3581400" h="3747174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4110"/>
                  <a:pt x="3581400" y="31489"/>
                </a:cubicBezTo>
                <a:lnTo>
                  <a:pt x="3581400" y="3652722"/>
                </a:lnTo>
                <a:cubicBezTo>
                  <a:pt x="3581400" y="3704887"/>
                  <a:pt x="3530234" y="3747174"/>
                  <a:pt x="3467118" y="3747174"/>
                </a:cubicBezTo>
                <a:lnTo>
                  <a:pt x="114282" y="3747174"/>
                </a:lnTo>
                <a:cubicBezTo>
                  <a:pt x="51166" y="3747174"/>
                  <a:pt x="0" y="3704887"/>
                  <a:pt x="0" y="3652722"/>
                </a:cubicBezTo>
                <a:lnTo>
                  <a:pt x="0" y="31489"/>
                </a:lnTo>
                <a:cubicBezTo>
                  <a:pt x="0" y="14110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05300" y="1238250"/>
            <a:ext cx="3581400" cy="38100"/>
          </a:xfrm>
          <a:custGeom>
            <a:avLst/>
            <a:gdLst/>
            <a:ahLst/>
            <a:cxnLst/>
            <a:rect l="l" t="t" r="r" b="b"/>
            <a:pathLst>
              <a:path w="3581400" h="38100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7072"/>
                  <a:pt x="3581400" y="38100"/>
                </a:cubicBezTo>
                <a:lnTo>
                  <a:pt x="35814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4522946" y="31242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-5953"/>
                </a:moveTo>
                <a:cubicBezTo>
                  <a:pt x="113742" y="-5953"/>
                  <a:pt x="119063" y="-633"/>
                  <a:pt x="119063" y="5953"/>
                </a:cubicBezTo>
                <a:lnTo>
                  <a:pt x="119063" y="12762"/>
                </a:lnTo>
                <a:cubicBezTo>
                  <a:pt x="155563" y="17971"/>
                  <a:pt x="184435" y="46844"/>
                  <a:pt x="189644" y="83344"/>
                </a:cubicBezTo>
                <a:lnTo>
                  <a:pt x="196453" y="83344"/>
                </a:lnTo>
                <a:cubicBezTo>
                  <a:pt x="203039" y="83344"/>
                  <a:pt x="208359" y="88664"/>
                  <a:pt x="208359" y="95250"/>
                </a:cubicBezTo>
                <a:cubicBezTo>
                  <a:pt x="208359" y="101836"/>
                  <a:pt x="203039" y="107156"/>
                  <a:pt x="196453" y="107156"/>
                </a:cubicBezTo>
                <a:lnTo>
                  <a:pt x="189644" y="107156"/>
                </a:lnTo>
                <a:cubicBezTo>
                  <a:pt x="184435" y="143656"/>
                  <a:pt x="155563" y="172529"/>
                  <a:pt x="119063" y="177738"/>
                </a:cubicBezTo>
                <a:lnTo>
                  <a:pt x="119063" y="184547"/>
                </a:lnTo>
                <a:cubicBezTo>
                  <a:pt x="119063" y="191133"/>
                  <a:pt x="113742" y="196453"/>
                  <a:pt x="107156" y="196453"/>
                </a:cubicBezTo>
                <a:cubicBezTo>
                  <a:pt x="100571" y="196453"/>
                  <a:pt x="95250" y="191133"/>
                  <a:pt x="95250" y="184547"/>
                </a:cubicBezTo>
                <a:lnTo>
                  <a:pt x="95250" y="177738"/>
                </a:lnTo>
                <a:cubicBezTo>
                  <a:pt x="58750" y="172529"/>
                  <a:pt x="29877" y="143656"/>
                  <a:pt x="24668" y="107156"/>
                </a:cubicBezTo>
                <a:lnTo>
                  <a:pt x="17859" y="107156"/>
                </a:lnTo>
                <a:cubicBezTo>
                  <a:pt x="11274" y="107156"/>
                  <a:pt x="5953" y="101836"/>
                  <a:pt x="5953" y="95250"/>
                </a:cubicBezTo>
                <a:cubicBezTo>
                  <a:pt x="5953" y="88664"/>
                  <a:pt x="11274" y="83344"/>
                  <a:pt x="17859" y="83344"/>
                </a:cubicBezTo>
                <a:lnTo>
                  <a:pt x="24668" y="83344"/>
                </a:lnTo>
                <a:cubicBezTo>
                  <a:pt x="29877" y="46844"/>
                  <a:pt x="58750" y="17971"/>
                  <a:pt x="95250" y="12762"/>
                </a:cubicBezTo>
                <a:lnTo>
                  <a:pt x="95250" y="5953"/>
                </a:lnTo>
                <a:cubicBezTo>
                  <a:pt x="95250" y="-633"/>
                  <a:pt x="100571" y="-5953"/>
                  <a:pt x="107156" y="-5953"/>
                </a:cubicBezTo>
                <a:close/>
                <a:moveTo>
                  <a:pt x="48816" y="107156"/>
                </a:moveTo>
                <a:cubicBezTo>
                  <a:pt x="53541" y="130485"/>
                  <a:pt x="71921" y="148865"/>
                  <a:pt x="95250" y="153591"/>
                </a:cubicBezTo>
                <a:lnTo>
                  <a:pt x="95250" y="148828"/>
                </a:lnTo>
                <a:cubicBezTo>
                  <a:pt x="95250" y="142242"/>
                  <a:pt x="100571" y="136922"/>
                  <a:pt x="107156" y="136922"/>
                </a:cubicBezTo>
                <a:cubicBezTo>
                  <a:pt x="113742" y="136922"/>
                  <a:pt x="119063" y="142242"/>
                  <a:pt x="119063" y="148828"/>
                </a:cubicBezTo>
                <a:lnTo>
                  <a:pt x="119063" y="153591"/>
                </a:lnTo>
                <a:cubicBezTo>
                  <a:pt x="142391" y="148865"/>
                  <a:pt x="160772" y="130485"/>
                  <a:pt x="165497" y="107156"/>
                </a:cubicBezTo>
                <a:lnTo>
                  <a:pt x="160734" y="107156"/>
                </a:lnTo>
                <a:cubicBezTo>
                  <a:pt x="154149" y="107156"/>
                  <a:pt x="148828" y="101836"/>
                  <a:pt x="148828" y="95250"/>
                </a:cubicBezTo>
                <a:cubicBezTo>
                  <a:pt x="148828" y="88664"/>
                  <a:pt x="154149" y="83344"/>
                  <a:pt x="160734" y="83344"/>
                </a:cubicBezTo>
                <a:lnTo>
                  <a:pt x="165497" y="83344"/>
                </a:lnTo>
                <a:cubicBezTo>
                  <a:pt x="160772" y="60015"/>
                  <a:pt x="142391" y="41635"/>
                  <a:pt x="119063" y="36909"/>
                </a:cubicBezTo>
                <a:lnTo>
                  <a:pt x="119063" y="41672"/>
                </a:lnTo>
                <a:cubicBezTo>
                  <a:pt x="119063" y="48258"/>
                  <a:pt x="113742" y="53578"/>
                  <a:pt x="107156" y="53578"/>
                </a:cubicBezTo>
                <a:cubicBezTo>
                  <a:pt x="100571" y="53578"/>
                  <a:pt x="95250" y="48258"/>
                  <a:pt x="95250" y="41672"/>
                </a:cubicBezTo>
                <a:lnTo>
                  <a:pt x="95250" y="36909"/>
                </a:lnTo>
                <a:cubicBezTo>
                  <a:pt x="71921" y="41635"/>
                  <a:pt x="53541" y="60015"/>
                  <a:pt x="48816" y="83344"/>
                </a:cubicBezTo>
                <a:lnTo>
                  <a:pt x="53578" y="83344"/>
                </a:lnTo>
                <a:cubicBezTo>
                  <a:pt x="60164" y="83344"/>
                  <a:pt x="65484" y="88664"/>
                  <a:pt x="65484" y="95250"/>
                </a:cubicBezTo>
                <a:cubicBezTo>
                  <a:pt x="65484" y="101836"/>
                  <a:pt x="60164" y="107156"/>
                  <a:pt x="53578" y="107156"/>
                </a:cubicBezTo>
                <a:lnTo>
                  <a:pt x="48816" y="107156"/>
                </a:lnTo>
                <a:close/>
                <a:moveTo>
                  <a:pt x="107156" y="77391"/>
                </a:moveTo>
                <a:cubicBezTo>
                  <a:pt x="117013" y="77391"/>
                  <a:pt x="125016" y="85393"/>
                  <a:pt x="125016" y="95250"/>
                </a:cubicBezTo>
                <a:cubicBezTo>
                  <a:pt x="125016" y="105107"/>
                  <a:pt x="117013" y="113109"/>
                  <a:pt x="107156" y="113109"/>
                </a:cubicBezTo>
                <a:cubicBezTo>
                  <a:pt x="97299" y="113109"/>
                  <a:pt x="89297" y="105107"/>
                  <a:pt x="89297" y="95250"/>
                </a:cubicBezTo>
                <a:cubicBezTo>
                  <a:pt x="89297" y="85393"/>
                  <a:pt x="97299" y="77391"/>
                  <a:pt x="107156" y="7739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305300" y="1238250"/>
            <a:ext cx="3581400" cy="38100"/>
          </a:xfrm>
          <a:custGeom>
            <a:avLst/>
            <a:gdLst/>
            <a:ahLst/>
            <a:cxnLst/>
            <a:rect l="l" t="t" r="r" b="b"/>
            <a:pathLst>
              <a:path w="3581400" h="38100">
                <a:moveTo>
                  <a:pt x="38100" y="0"/>
                </a:moveTo>
                <a:lnTo>
                  <a:pt x="3543300" y="0"/>
                </a:lnTo>
                <a:cubicBezTo>
                  <a:pt x="3564328" y="0"/>
                  <a:pt x="3581400" y="17072"/>
                  <a:pt x="3581400" y="38100"/>
                </a:cubicBezTo>
                <a:lnTo>
                  <a:pt x="35814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1" name="Text 9"/>
          <p:cNvSpPr/>
          <p:nvPr/>
        </p:nvSpPr>
        <p:spPr>
          <a:xfrm>
            <a:off x="763124" y="1371600"/>
            <a:ext cx="3351676" cy="36138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Առանց Դելոնեի (Միայն Marching Cubes).</a:t>
            </a:r>
            <a:r>
              <a:rPr lang="en-US" sz="1600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Էլիպսոիդի մոդելավորման ժամանակ ստացվել է </a:t>
            </a:r>
            <a:r>
              <a:rPr lang="en-US" sz="1600" b="1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2956 եռանկյուն</a:t>
            </a:r>
            <a:r>
              <a:rPr lang="en-US" sz="1600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: Մոդելը ավելի պարզ է, բայց պակաս դետալիզացված: Մակերևույթի տեսողական ընկալման ժամանակ կարող են նկատվել «կոտրվածքներ» կամ անհարթություններ, քանի որ մեթոդը քիչ զգայուն է տեղային կորությունների նկատմամ</a:t>
            </a:r>
            <a:r>
              <a:rPr lang="en-US" sz="16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բ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23698" y="1466572"/>
            <a:ext cx="3092095" cy="35394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Դելոնեի մեթոդով (Խնդիր 2).</a:t>
            </a:r>
            <a:r>
              <a:rPr lang="en-US" sz="1600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Նույն էլիպսոիդի համար ստացվել է </a:t>
            </a:r>
            <a:r>
              <a:rPr lang="en-US" sz="1600" b="1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7742 եռանկյուն</a:t>
            </a:r>
            <a:r>
              <a:rPr lang="en-US" sz="1600" dirty="0">
                <a:solidFill>
                  <a:srgbClr val="000000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 : Սա ցույց է տալիս, որ համակցված մեթոդը ապահովում է ավելի մեծ խտություն և երկրաչափական բարձր ճշգրտություն:Դելոնեի մեթոդով ստացված եռանկյունների ավելի մեծ քանակը թույլ է տալիս ավելի ճշգրիտ մոտարկել մակերևույթի տեղային կորությունները</a:t>
            </a:r>
            <a:endParaRPr lang="en-US" dirty="0">
              <a:latin typeface="Sylfaen" panose="010A0502050306030303" pitchFamily="18" charset="0"/>
            </a:endParaRPr>
          </a:p>
        </p:txBody>
      </p:sp>
      <p:pic>
        <p:nvPicPr>
          <p:cNvPr id="13" name="Image 0" descr="https://kimi-img.moonshot.cn/pub/slides/26-03-18-09:26:03-d6svuav826pjlqvc3hs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862" y="3811124"/>
            <a:ext cx="3799338" cy="2482850"/>
          </a:xfrm>
          <a:prstGeom prst="rect">
            <a:avLst/>
          </a:prstGeom>
        </p:spPr>
      </p:pic>
      <p:pic>
        <p:nvPicPr>
          <p:cNvPr id="14" name="Image 1" descr="https://kimi-img.moonshot.cn/pub/slides/26-03-18-09:26:07-d6svubqav1f642j7un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9204" y="354924"/>
            <a:ext cx="3310654" cy="31502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3400" y="5218239"/>
            <a:ext cx="7586606" cy="7048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Որպեսզի ցույց տանք Դելոնեի մեթոդի բարձր ճշգրտությունը մանր դետալների վրա, առանձնացվել է էլիպսոիդի լոկալ մի հատված՝ բաղկացած ընդամենը </a:t>
            </a:r>
            <a:r>
              <a:rPr lang="en-US" sz="1600" b="1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225 կետից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։ Այս փոքր հատվածի վրա ալգորիթմը կառուցել է </a:t>
            </a:r>
            <a:r>
              <a:rPr lang="en-US" sz="1600" b="1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392 եռանկյուն</a:t>
            </a:r>
            <a:r>
              <a:rPr lang="en-US" sz="1600" dirty="0">
                <a:solidFill>
                  <a:srgbClr val="303030"/>
                </a:solidFill>
                <a:highlight>
                  <a:srgbClr val="FFFFFF">
                    <a:alpha val="100000"/>
                  </a:srgbClr>
                </a:highlight>
                <a:latin typeface="Sylfaen" panose="010A0502050306030303" pitchFamily="18" charset="0"/>
                <a:ea typeface="Google Sans Text" pitchFamily="34" charset="-122"/>
                <a:cs typeface="Google Sans Text" pitchFamily="34" charset="-120"/>
              </a:rPr>
              <a:t>՝ ցուցադրելով ցանցի կատարյալ հավասարակշռվածությունը</a:t>
            </a:r>
            <a:endParaRPr lang="en-US" sz="1600" dirty="0">
              <a:latin typeface="Sylfaen" panose="010A05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42579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49" y="161561"/>
            <a:ext cx="3686901" cy="2511969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304" y="161560"/>
            <a:ext cx="3379742" cy="2511969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700" y="161561"/>
            <a:ext cx="3684540" cy="251196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946" y="3111770"/>
            <a:ext cx="3452676" cy="30538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0006" y="3111769"/>
            <a:ext cx="3461860" cy="305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93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0888" y="573959"/>
            <a:ext cx="9562897" cy="33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7" b="1" dirty="0">
                <a:solidFill>
                  <a:srgbClr val="F5F1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Խնդիր 3. Անատոմիական մոդելների եռանկյունացում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60654" y="6735496"/>
            <a:ext cx="2247788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pic>
        <p:nvPicPr>
          <p:cNvPr id="4" name="Image 0" descr="https://kimi-img.moonshot.cn/pub/slides/26-03-18-09:43:32-d6t06h6e8aijqoliq4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41" y="427080"/>
            <a:ext cx="5447445" cy="5575520"/>
          </a:xfrm>
          <a:prstGeom prst="rect">
            <a:avLst/>
          </a:prstGeom>
        </p:spPr>
      </p:pic>
      <p:pic>
        <p:nvPicPr>
          <p:cNvPr id="5" name="Image 1" descr="https://kimi-img.moonshot.cn/pub/slides/26-03-18-09:43:36-d6t06i5f4393q0v7h67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726" y="427080"/>
            <a:ext cx="5818854" cy="55755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0214" y="720781"/>
            <a:ext cx="4544071" cy="558969"/>
          </a:xfrm>
          <a:custGeom>
            <a:avLst/>
            <a:gdLst/>
            <a:ahLst/>
            <a:cxnLst/>
            <a:rect l="l" t="t" r="r" b="b"/>
            <a:pathLst>
              <a:path w="4544071" h="558969">
                <a:moveTo>
                  <a:pt x="28669" y="0"/>
                </a:moveTo>
                <a:lnTo>
                  <a:pt x="4486738" y="0"/>
                </a:lnTo>
                <a:cubicBezTo>
                  <a:pt x="4518381" y="0"/>
                  <a:pt x="4544071" y="13723"/>
                  <a:pt x="4544071" y="30626"/>
                </a:cubicBezTo>
                <a:lnTo>
                  <a:pt x="4544071" y="528343"/>
                </a:lnTo>
                <a:cubicBezTo>
                  <a:pt x="4544071" y="545246"/>
                  <a:pt x="4518381" y="558969"/>
                  <a:pt x="4486738" y="558969"/>
                </a:cubicBezTo>
                <a:lnTo>
                  <a:pt x="28669" y="558969"/>
                </a:lnTo>
                <a:cubicBezTo>
                  <a:pt x="12846" y="558969"/>
                  <a:pt x="0" y="552107"/>
                  <a:pt x="0" y="543654"/>
                </a:cubicBezTo>
                <a:lnTo>
                  <a:pt x="0" y="15314"/>
                </a:lnTo>
                <a:cubicBezTo>
                  <a:pt x="0" y="6862"/>
                  <a:pt x="12846" y="0"/>
                  <a:pt x="2866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60654" y="6735496"/>
            <a:ext cx="2247788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pic>
        <p:nvPicPr>
          <p:cNvPr id="4" name="Image 0" descr="https://kimi-img.moonshot.cn/pub/slides/26-03-18-09:44:11-d6t06quahlmfngu46hc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77" y="1000265"/>
            <a:ext cx="4675934" cy="4271035"/>
          </a:xfrm>
          <a:prstGeom prst="rect">
            <a:avLst/>
          </a:prstGeom>
        </p:spPr>
      </p:pic>
      <p:pic>
        <p:nvPicPr>
          <p:cNvPr id="5" name="Image 1" descr="https://kimi-img.moonshot.cn/pub/slides/26-03-18-09:44:16-d6t06s27ch93hurm6a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214" y="1506018"/>
            <a:ext cx="6406098" cy="4673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31716" y="771750"/>
            <a:ext cx="8833805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Sylfaen" panose="010A0502050306030303" pitchFamily="18" charset="0"/>
                <a:ea typeface="微软雅黑" pitchFamily="34" charset="-122"/>
                <a:cs typeface="微软雅黑" pitchFamily="34" charset="-120"/>
              </a:rPr>
              <a:t>Մակերևույթի լոկալ եռանկյունացման ցանցը </a:t>
            </a:r>
            <a:endParaRPr lang="en-US" sz="1600" dirty="0">
              <a:latin typeface="Sylfaen" panose="010A0502050306030303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0888" y="573959"/>
            <a:ext cx="9562897" cy="33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7" b="1" dirty="0">
                <a:solidFill>
                  <a:srgbClr val="F5F1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Խնդիր 3. Անատոմիական մոդելների եռանկյունացում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60654" y="6735496"/>
            <a:ext cx="2247788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pic>
        <p:nvPicPr>
          <p:cNvPr id="4" name="Image 0" descr="https://kimi-img.moonshot.cn/pub/slides/26-03-18-09:47:13-d6t0889toom2o7si3u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223" y="416614"/>
            <a:ext cx="2556437" cy="5813044"/>
          </a:xfrm>
          <a:prstGeom prst="rect">
            <a:avLst/>
          </a:prstGeom>
        </p:spPr>
      </p:pic>
      <p:pic>
        <p:nvPicPr>
          <p:cNvPr id="5" name="Image 1" descr="https://kimi-img.moonshot.cn/pub/slides/26-03-18-09:47:29-d6t08catuj39gko8ccl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995" y="416614"/>
            <a:ext cx="2666010" cy="5813044"/>
          </a:xfrm>
          <a:prstGeom prst="rect">
            <a:avLst/>
          </a:prstGeom>
        </p:spPr>
      </p:pic>
      <p:pic>
        <p:nvPicPr>
          <p:cNvPr id="6" name="Image 2" descr="https://kimi-img.moonshot.cn/pub/slides/26-03-18-09:48:26-d6t08qldbv1l0re5afj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863" y="416614"/>
            <a:ext cx="2688434" cy="5813044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52545" cy="885217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4800" y="190500"/>
            <a:ext cx="518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1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Եզրակացություն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0037" y="15412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" name="Text 4"/>
          <p:cNvSpPr/>
          <p:nvPr/>
        </p:nvSpPr>
        <p:spPr>
          <a:xfrm>
            <a:off x="889703" y="1115799"/>
            <a:ext cx="7252347" cy="1506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y-AM" sz="1600" b="1" dirty="0" smtClean="0">
                <a:latin typeface="Sylfaen" panose="010A0502050306030303" pitchFamily="18" charset="0"/>
              </a:rPr>
              <a:t>Առաջին և երկրորդ խնդիրներով</a:t>
            </a:r>
            <a:r>
              <a:rPr lang="hy-AM" sz="1600" dirty="0" smtClean="0">
                <a:latin typeface="Sylfaen" panose="010A0502050306030303" pitchFamily="18" charset="0"/>
              </a:rPr>
              <a:t> հիմնավորվեց, որ «Քայլող խորանարդների» և Դելոնեի եռանկյունացման համակցումը թույլ է տալիս մակերևույթների վերակառուցման ժամանակ հասնել բարձր արագագործության և երկրաչափական օպտիմալության:</a:t>
            </a:r>
            <a:endParaRPr lang="hy-AM" sz="1600" dirty="0">
              <a:latin typeface="Sylfaen" panose="010A050205030603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0037" y="307880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9" name="Shape 7"/>
          <p:cNvSpPr/>
          <p:nvPr/>
        </p:nvSpPr>
        <p:spPr>
          <a:xfrm>
            <a:off x="460037" y="44264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0" name="Text 8"/>
          <p:cNvSpPr/>
          <p:nvPr/>
        </p:nvSpPr>
        <p:spPr>
          <a:xfrm>
            <a:off x="1171575" y="4991100"/>
            <a:ext cx="477202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F1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Գործնական իրականացում.</a:t>
            </a:r>
            <a:r>
              <a:rPr lang="en-US" sz="1200" dirty="0">
                <a:solidFill>
                  <a:srgbClr val="F5F1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STEP ֆորմատի տվյալների հիման վրա հաջողությամբ վերակառուցվել են մարդու ձեռքի ոսկրային կառուցվածքների (բազկոսկր, ճաճանչոսկր, ծղիկոսկր) անատոմիական ճշգրիտ մոդելները: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96063" y="552450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F1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 Մոդելավորում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857250" y="2689629"/>
            <a:ext cx="7252347" cy="1506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hy-AM" sz="1600" dirty="0" smtClean="0">
                <a:latin typeface="Sylfaen" panose="010A0502050306030303" pitchFamily="18" charset="0"/>
              </a:rPr>
              <a:t>Երրորդ խնդիրը </a:t>
            </a:r>
            <a:r>
              <a:rPr lang="hy-AM" sz="1600" b="1" dirty="0" smtClean="0">
                <a:latin typeface="Sylfaen" panose="010A0502050306030303" pitchFamily="18" charset="0"/>
              </a:rPr>
              <a:t>ցույց տվեց ալգորիթմի գործնական կիրառելիությունը</a:t>
            </a:r>
            <a:r>
              <a:rPr lang="hy-AM" sz="1600" dirty="0" smtClean="0">
                <a:latin typeface="Sylfaen" panose="010A0502050306030303" pitchFamily="18" charset="0"/>
              </a:rPr>
              <a:t> իրական և բարդ տվյալների վրա. </a:t>
            </a:r>
            <a:r>
              <a:rPr lang="en-US" sz="1600" dirty="0" smtClean="0">
                <a:latin typeface="Sylfaen" panose="010A0502050306030303" pitchFamily="18" charset="0"/>
              </a:rPr>
              <a:t>STEP </a:t>
            </a:r>
            <a:r>
              <a:rPr lang="hy-AM" sz="1600" dirty="0" smtClean="0">
                <a:latin typeface="Sylfaen" panose="010A0502050306030303" pitchFamily="18" charset="0"/>
              </a:rPr>
              <a:t>ֆայլից հաջողությամբ ստացվեց մարդու ձեռքի ոսկորների ճշգրիտ 3</a:t>
            </a:r>
            <a:r>
              <a:rPr lang="en-US" sz="1600" dirty="0" smtClean="0">
                <a:latin typeface="Sylfaen" panose="010A0502050306030303" pitchFamily="18" charset="0"/>
              </a:rPr>
              <a:t>D </a:t>
            </a:r>
            <a:r>
              <a:rPr lang="hy-AM" sz="1600" dirty="0" smtClean="0">
                <a:latin typeface="Sylfaen" panose="010A0502050306030303" pitchFamily="18" charset="0"/>
              </a:rPr>
              <a:t>մոդելը (47,874 գագաթ), ինչը հաստատեց մեթոդի հուսալիությունը անատոմիական օբյեկտների վերակառուցման համար:</a:t>
            </a:r>
            <a:endParaRPr lang="en-US" dirty="0">
              <a:latin typeface="Sylfaen" panose="010A0502050306030303" pitchFamily="18" charset="0"/>
            </a:endParaRPr>
          </a:p>
        </p:txBody>
      </p:sp>
      <p:sp>
        <p:nvSpPr>
          <p:cNvPr id="16" name="Text 4"/>
          <p:cNvSpPr/>
          <p:nvPr/>
        </p:nvSpPr>
        <p:spPr>
          <a:xfrm>
            <a:off x="843642" y="4426456"/>
            <a:ext cx="7252347" cy="1506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hy-AM" sz="1600" dirty="0" smtClean="0">
                <a:latin typeface="Sylfaen" panose="010A0502050306030303" pitchFamily="18" charset="0"/>
              </a:rPr>
              <a:t>«Քայլող խորանարդների» մեթոդն ապահովում է մոդելի հիմնական կառուցվածքը, իսկ Դելոնեի եռանկյունացումը՝ դրա որակն ու հարթությունը: Այս երկու ալգորիթմների համակցումը թույլ է տալիս ստանալ ոչ միայն տեսողականորեն գեղեցիկ, այլև բժշկական հաշվարկների համար պիտանի մոդելներ:</a:t>
            </a:r>
            <a:endParaRPr lang="en-US" dirty="0">
              <a:latin typeface="Sylfaen" panose="010A0502050306030303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60654" y="6735496"/>
            <a:ext cx="2247788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sp>
        <p:nvSpPr>
          <p:cNvPr id="8" name="Shape 0"/>
          <p:cNvSpPr/>
          <p:nvPr/>
        </p:nvSpPr>
        <p:spPr>
          <a:xfrm>
            <a:off x="0" y="0"/>
            <a:ext cx="1974715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4798433" y="438988"/>
            <a:ext cx="2062803" cy="1887165"/>
          </a:xfrm>
          <a:custGeom>
            <a:avLst/>
            <a:gdLst/>
            <a:ahLst/>
            <a:cxnLst/>
            <a:rect l="l" t="t" r="r" b="b"/>
            <a:pathLst>
              <a:path w="1216123" h="1032296">
                <a:moveTo>
                  <a:pt x="101344" y="394773"/>
                </a:moveTo>
                <a:lnTo>
                  <a:pt x="543033" y="568368"/>
                </a:lnTo>
                <a:cubicBezTo>
                  <a:pt x="563724" y="576433"/>
                  <a:pt x="585682" y="580667"/>
                  <a:pt x="608062" y="580667"/>
                </a:cubicBezTo>
                <a:cubicBezTo>
                  <a:pt x="630442" y="580667"/>
                  <a:pt x="652400" y="576433"/>
                  <a:pt x="673090" y="568368"/>
                </a:cubicBezTo>
                <a:lnTo>
                  <a:pt x="1184876" y="367151"/>
                </a:lnTo>
                <a:cubicBezTo>
                  <a:pt x="1203878" y="359691"/>
                  <a:pt x="1216123" y="342150"/>
                  <a:pt x="1216123" y="322593"/>
                </a:cubicBezTo>
                <a:cubicBezTo>
                  <a:pt x="1216123" y="303035"/>
                  <a:pt x="1203878" y="285494"/>
                  <a:pt x="1184876" y="278035"/>
                </a:cubicBezTo>
                <a:lnTo>
                  <a:pt x="673090" y="76817"/>
                </a:lnTo>
                <a:cubicBezTo>
                  <a:pt x="652400" y="68753"/>
                  <a:pt x="630442" y="64519"/>
                  <a:pt x="608062" y="64519"/>
                </a:cubicBezTo>
                <a:cubicBezTo>
                  <a:pt x="585682" y="64519"/>
                  <a:pt x="563724" y="68753"/>
                  <a:pt x="543033" y="76817"/>
                </a:cubicBezTo>
                <a:lnTo>
                  <a:pt x="31248" y="278035"/>
                </a:lnTo>
                <a:cubicBezTo>
                  <a:pt x="12246" y="285494"/>
                  <a:pt x="0" y="303035"/>
                  <a:pt x="0" y="322593"/>
                </a:cubicBezTo>
                <a:lnTo>
                  <a:pt x="0" y="919389"/>
                </a:lnTo>
                <a:cubicBezTo>
                  <a:pt x="0" y="946205"/>
                  <a:pt x="22591" y="967778"/>
                  <a:pt x="50672" y="967778"/>
                </a:cubicBezTo>
                <a:cubicBezTo>
                  <a:pt x="78752" y="967778"/>
                  <a:pt x="101344" y="946205"/>
                  <a:pt x="101344" y="919389"/>
                </a:cubicBezTo>
                <a:lnTo>
                  <a:pt x="101344" y="394773"/>
                </a:lnTo>
                <a:close/>
                <a:moveTo>
                  <a:pt x="202687" y="539335"/>
                </a:moveTo>
                <a:lnTo>
                  <a:pt x="202687" y="774222"/>
                </a:lnTo>
                <a:cubicBezTo>
                  <a:pt x="202687" y="881081"/>
                  <a:pt x="384261" y="967778"/>
                  <a:pt x="608062" y="967778"/>
                </a:cubicBezTo>
                <a:cubicBezTo>
                  <a:pt x="831862" y="967778"/>
                  <a:pt x="1013436" y="881081"/>
                  <a:pt x="1013436" y="774222"/>
                </a:cubicBezTo>
                <a:lnTo>
                  <a:pt x="1013436" y="539133"/>
                </a:lnTo>
                <a:lnTo>
                  <a:pt x="711728" y="657887"/>
                </a:lnTo>
                <a:cubicBezTo>
                  <a:pt x="678791" y="670791"/>
                  <a:pt x="643743" y="677445"/>
                  <a:pt x="608062" y="677445"/>
                </a:cubicBezTo>
                <a:cubicBezTo>
                  <a:pt x="572380" y="677445"/>
                  <a:pt x="537332" y="670791"/>
                  <a:pt x="504396" y="657887"/>
                </a:cubicBezTo>
                <a:lnTo>
                  <a:pt x="202687" y="539133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0" name="Rectangle 9"/>
          <p:cNvSpPr/>
          <p:nvPr/>
        </p:nvSpPr>
        <p:spPr>
          <a:xfrm>
            <a:off x="3662415" y="2649319"/>
            <a:ext cx="43348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 smtClean="0">
                <a:solidFill>
                  <a:srgbClr val="1E3A5F"/>
                </a:solidFill>
                <a:latin typeface="Sylfaen" panose="010A0502050306030303" pitchFamily="18" charset="0"/>
                <a:ea typeface="MiSans" pitchFamily="34" charset="-122"/>
                <a:cs typeface="MiSans" pitchFamily="34" charset="-120"/>
              </a:rPr>
              <a:t>Շնորհակալություն</a:t>
            </a:r>
            <a:endParaRPr lang="en-US" sz="3600" dirty="0">
              <a:latin typeface="Sylfaen" panose="010A0502050306030303" pitchFamily="18" charset="0"/>
            </a:endParaRPr>
          </a:p>
        </p:txBody>
      </p:sp>
      <p:sp>
        <p:nvSpPr>
          <p:cNvPr id="11" name="Text 11"/>
          <p:cNvSpPr/>
          <p:nvPr/>
        </p:nvSpPr>
        <p:spPr>
          <a:xfrm>
            <a:off x="3157665" y="3304219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dirty="0" err="1">
                <a:solidFill>
                  <a:srgbClr val="2D2D2D"/>
                </a:solidFill>
                <a:latin typeface="Sylfaen" panose="010A0502050306030303" pitchFamily="18" charset="0"/>
                <a:ea typeface="MiSans" pitchFamily="34" charset="-122"/>
                <a:cs typeface="MiSans" pitchFamily="34" charset="-120"/>
              </a:rPr>
              <a:t>Ուշադրության</a:t>
            </a:r>
            <a:r>
              <a:rPr lang="en-US" sz="1700" dirty="0">
                <a:solidFill>
                  <a:srgbClr val="2D2D2D"/>
                </a:solidFill>
                <a:latin typeface="Sylfaen" panose="010A0502050306030303" pitchFamily="18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700" dirty="0" err="1">
                <a:solidFill>
                  <a:srgbClr val="2D2D2D"/>
                </a:solidFill>
                <a:latin typeface="Sylfaen" panose="010A0502050306030303" pitchFamily="18" charset="0"/>
                <a:ea typeface="MiSans" pitchFamily="34" charset="-122"/>
                <a:cs typeface="MiSans" pitchFamily="34" charset="-120"/>
              </a:rPr>
              <a:t>համար</a:t>
            </a: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7" name="Text 11"/>
          <p:cNvSpPr/>
          <p:nvPr/>
        </p:nvSpPr>
        <p:spPr>
          <a:xfrm>
            <a:off x="3371025" y="4158203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>
              <a:latin typeface="Sylfaen" panose="010A050205030603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57665" y="4144317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 smtClean="0">
                <a:latin typeface="Sylfaen" panose="010A0502050306030303" pitchFamily="18" charset="0"/>
                <a:hlinkClick r:id="rId3"/>
              </a:rPr>
              <a:t>REPOSITORY LINK</a:t>
            </a:r>
            <a:endParaRPr lang="en-US" sz="1600" dirty="0">
              <a:latin typeface="Sylfaen" panose="010A05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1111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793</Words>
  <Application>Microsoft Office PowerPoint</Application>
  <PresentationFormat>Widescreen</PresentationFormat>
  <Paragraphs>75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微软雅黑</vt:lpstr>
      <vt:lpstr>Arial</vt:lpstr>
      <vt:lpstr>Calibri</vt:lpstr>
      <vt:lpstr>Cambria Math</vt:lpstr>
      <vt:lpstr>Google Sans Text</vt:lpstr>
      <vt:lpstr>MiSans</vt:lpstr>
      <vt:lpstr>Sylfaen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Մակերևույթների եռանկյունացման մոդելների նախագծման ալգորիթմների մշակում</dc:title>
  <dc:subject>Մակերևույթների եռանկյունացման մոդելների նախագծման ալգորիթմների մշակում</dc:subject>
  <dc:creator>Kimi</dc:creator>
  <cp:lastModifiedBy>Microsoft account</cp:lastModifiedBy>
  <cp:revision>10</cp:revision>
  <dcterms:created xsi:type="dcterms:W3CDTF">2026-03-18T01:58:10Z</dcterms:created>
  <dcterms:modified xsi:type="dcterms:W3CDTF">2026-03-18T22:23:01Z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{"Label":"Մակերևույթների եռանկյունացման մոդելների նախագծման ալգորիթմների մշակում","ContentProducer":"001191110108MACG2KBH8F10000","ProduceID":"19cfdafb-cae2-8fb6-8000-00004789df68","ReservedCode1":"","ContentPropagator":"001191110108MACG2KBH8F20000","Prop</vt:lpwstr>
  </property>
</Properties>
</file>